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00" cy="9144000"/>
  <p:notesSz cx="9144000" cy="16256000"/>
  <p:embeddedFontLst>
    <p:embeddedFont>
      <p:font typeface="Quattrocento 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bubble3D val="0"/>
            <c:spPr>
              <a:solidFill>
                <a:srgbClr val="1E293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Risk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38BDF8"/>
            </a:solidFill>
            <a:ln w="2540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185delAG</c:v>
                  </c:pt>
                  <c:pt idx="1">
                    <c:v>5382insC</c:v>
                  </c:pt>
                  <c:pt idx="2">
                    <c:v>C61G</c:v>
                  </c:pt>
                  <c:pt idx="3">
                    <c:v>T1700A</c:v>
                  </c:pt>
                  <c:pt idx="4">
                    <c:v>R1699Q</c:v>
                  </c:pt>
                  <c:pt idx="5">
                    <c:v>185delAG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0.98</c:v>
                </c:pt>
                <c:pt idx="1">
                  <c:v>0.94</c:v>
                </c:pt>
                <c:pt idx="2">
                  <c:v>0.88</c:v>
                </c:pt>
                <c:pt idx="3">
                  <c:v>0.72</c:v>
                </c:pt>
                <c:pt idx="4">
                  <c:v>0.82</c:v>
                </c:pt>
                <c:pt idx="5">
                  <c:v>0.98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Allele Freq (%)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185delAG</c:v>
                  </c:pt>
                  <c:pt idx="1">
                    <c:v>5382insC</c:v>
                  </c:pt>
                  <c:pt idx="2">
                    <c:v>C61G</c:v>
                  </c:pt>
                  <c:pt idx="3">
                    <c:v>T1700A</c:v>
                  </c:pt>
                  <c:pt idx="4">
                    <c:v>R1699Q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0.08</c:v>
                </c:pt>
                <c:pt idx="1">
                  <c:v>0.052</c:v>
                </c:pt>
                <c:pt idx="2">
                  <c:v>0.011</c:v>
                </c:pt>
                <c:pt idx="3">
                  <c:v>0.125</c:v>
                </c:pt>
                <c:pt idx="4">
                  <c:v>0.034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Frequency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7tk4qkc6pqds/mnt/agents/output/brca1-presentation/images/cover_bg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70A12">
                  <a:alpha val="0"/>
                </a:srgbClr>
              </a:gs>
              <a:gs pos="40000">
                <a:srgbClr val="070A12">
                  <a:alpha val="50000"/>
                </a:srgbClr>
              </a:gs>
              <a:gs pos="100000">
                <a:srgbClr val="070A1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588000" y="2286000"/>
            <a:ext cx="5080000" cy="406400"/>
          </a:xfrm>
          <a:prstGeom prst="roundRect">
            <a:avLst>
              <a:gd name="adj" fmla="val 5000"/>
            </a:avLst>
          </a:prstGeom>
          <a:solidFill>
            <a:srgbClr val="38BDF8">
              <a:alpha val="8235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88000" y="2286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GENOMIC PROJECT V2.0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78000" y="3048000"/>
            <a:ext cx="1270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BRCA1: </a:t>
            </a:r>
            <a:pPr algn="ctr">
              <a:lnSpc>
                <a:spcPct val="110000"/>
              </a:lnSpc>
            </a:pPr>
            <a:r>
              <a:rPr lang="en-US" sz="56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GUARDIAN</a:t>
            </a:r>
            <a:pPr algn="ctr">
              <a:lnSpc>
                <a:spcPct val="110000"/>
              </a:lnSpc>
            </a:pPr>
            <a:r>
              <a:rPr lang="en-US" sz="5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GENOME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3048000" y="5334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Exploration of DNA Repair Mechanics &amp; Clinical Risk Simulation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83000" y="6350000"/>
            <a:ext cx="889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PYTHON CORE • PLOTLY • 3DMOL.JS • STREAMLIT UI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0" y="8382000"/>
            <a:ext cx="2540000" cy="25400"/>
          </a:xfrm>
          <a:prstGeom prst="rect">
            <a:avLst/>
          </a:prstGeom>
          <a:gradFill rotWithShape="1" flip="none">
            <a:gsLst>
              <a:gs pos="0">
                <a:srgbClr val="38BDF8">
                  <a:alpha val="0"/>
                </a:srgbClr>
              </a:gs>
              <a:gs pos="50000">
                <a:srgbClr val="38BDF8"/>
              </a:gs>
              <a:gs pos="100000">
                <a:srgbClr val="38BDF8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/ BIOLOGICAL CONTEXT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762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Cell's Chief Mechanic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778000"/>
            <a:ext cx="7112000" cy="38100"/>
          </a:xfrm>
          <a:prstGeom prst="rect">
            <a:avLst/>
          </a:prstGeom>
          <a:gradFill rotWithShape="1" flip="none">
            <a:gsLst>
              <a:gs pos="0">
                <a:srgbClr val="38BDF8">
                  <a:alpha val="0"/>
                </a:srgbClr>
              </a:gs>
              <a:gs pos="50000">
                <a:srgbClr val="38BDF8"/>
              </a:gs>
              <a:gs pos="100000">
                <a:srgbClr val="38BDF8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1270000" y="2159000"/>
            <a:ext cx="6096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BRCA1 is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Tumor Suppressor Gene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monitors genetic integrity.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initiates </a:t>
            </a:r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Homologous Recombination (HR)</a:t>
            </a:r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repair double-strand DNA breaks caused by stress, radiation, or aging.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US" sz="1600" i="1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"A non-functional BRCA1 protein essentially leaves the genome vulnerable to catastrophic mutation accumulation."</a:t>
            </a:r>
            <a:endParaRPr lang="en-US" sz="1800" dirty="0"/>
          </a:p>
        </p:txBody>
      </p:sp>
      <p:pic>
        <p:nvPicPr>
          <p:cNvPr id="7" name="Image 0" descr="https://kimi-img.moonshot.cn/pub/slides/okc/m7tk4qkc6pqds/mnt/agents/output/brca1-presentation/images/molecular_bg.png">    </p:cNvPr>
          <p:cNvPicPr>
            <a:picLocks noChangeAspect="1"/>
          </p:cNvPicPr>
          <p:nvPr/>
        </p:nvPicPr>
        <p:blipFill>
          <a:blip r:embed="rId1"/>
          <a:srcRect l="15217" r="15217" t="0" b="0"/>
          <a:stretch/>
        </p:blipFill>
        <p:spPr>
          <a:xfrm>
            <a:off x="8382000" y="1778000"/>
            <a:ext cx="7112000" cy="5842000"/>
          </a:xfrm>
          <a:prstGeom prst="roundRect">
            <a:avLst>
              <a:gd name="adj" fmla="val 80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/ CLINICAL STATISTICS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762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Statistical Risk Profile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70000" y="2286000"/>
            <a:ext cx="609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72%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270000" y="3683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Lifetime Breast Cancer Risk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70000" y="4318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Compared to only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12%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general population.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78000" y="5461000"/>
            <a:ext cx="4826000" cy="1524000"/>
          </a:xfrm>
          <a:prstGeom prst="roundRect">
            <a:avLst>
              <a:gd name="adj" fmla="val 8000"/>
            </a:avLst>
          </a:prstGeom>
          <a:solidFill>
            <a:srgbClr val="A78BFA">
              <a:alpha val="6275"/>
            </a:srgbClr>
          </a:solidFill>
          <a:ln w="12700">
            <a:solidFill>
              <a:srgbClr val="A78BFA">
                <a:alpha val="18824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2000" y="5715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A78BF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Secondary Risk Profile</a:t>
            </a:r>
            <a:endParaRPr lang="en-US" sz="1800" dirty="0"/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Ovarian cancer risk: </a:t>
            </a:r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1.3%</a:t>
            </a:r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</a:t>
            </a:r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44%</a:t>
            </a:r>
            <a:endParaRPr lang="en-US" sz="1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382000" y="1778000"/>
          <a:ext cx="7112000" cy="584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10160000" y="4064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Lifetime Multiplier Risk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/ GENETIC VARIANTS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762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Mutation Taxonomy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47371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000" y="2032000"/>
            <a:ext cx="1524000" cy="35560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32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FRAMESHIFT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67000"/>
            <a:ext cx="4229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185delAG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16000" y="3302000"/>
            <a:ext cx="42291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Deletions that shift the reading frame, rendering protein synthesis terminal.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16000" y="4953000"/>
            <a:ext cx="4229100" cy="635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4953000"/>
            <a:ext cx="42291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AGATC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871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[--]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53100" y="1778000"/>
            <a:ext cx="47498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07100" y="2032000"/>
            <a:ext cx="1524000" cy="355600"/>
          </a:xfrm>
          <a:prstGeom prst="roundRect">
            <a:avLst>
              <a:gd name="adj" fmla="val 8000"/>
            </a:avLst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6007100" y="2032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MISSENSE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07100" y="2667000"/>
            <a:ext cx="4241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C61G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07100" y="3302000"/>
            <a:ext cx="4241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 nucleotide "typo" swapping a critical amino acid in the RING domain.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07100" y="4953000"/>
            <a:ext cx="4241800" cy="635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07100" y="4953000"/>
            <a:ext cx="4241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TGCA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B92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[G]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56900" y="1778000"/>
            <a:ext cx="47371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10900" y="2032000"/>
            <a:ext cx="1524000" cy="35560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/>
        </p:spPr>
      </p:sp>
      <p:sp>
        <p:nvSpPr>
          <p:cNvPr id="20" name="Text 18"/>
          <p:cNvSpPr/>
          <p:nvPr/>
        </p:nvSpPr>
        <p:spPr>
          <a:xfrm>
            <a:off x="11010900" y="2032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10900" y="2667000"/>
            <a:ext cx="4229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5382insC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010900" y="3302000"/>
            <a:ext cx="42291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Insertion of a cytosine base causing a downstream frameshift error.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010900" y="4953000"/>
            <a:ext cx="4229100" cy="635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10900" y="4953000"/>
            <a:ext cx="42291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CGGT</a:t>
            </a:r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871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[C]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CGTA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/ DATA WAREHOUSE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762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Variant Baseline Registry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14732000" cy="6604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032000"/>
          <a:ext cx="14224000" cy="6096000"/>
        </p:xfrm>
        <a:graphic>
          <a:graphicData uri="http://schemas.openxmlformats.org/drawingml/2006/table">
            <a:tbl>
              <a:tblPr/>
              <a:tblGrid>
                <a:gridCol w="2844800"/>
                <a:gridCol w="3556000"/>
                <a:gridCol w="4267200"/>
                <a:gridCol w="3556000"/>
              </a:tblGrid>
              <a:tr h="739682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Mutation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Clinical Significance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Risk Exposure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AF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Discovery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0712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185delAG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717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Pathogenic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1995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</a:tr>
              <a:tr h="10712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5382insC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717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Pathogenic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1996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</a:tr>
              <a:tr h="10712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C61G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B92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Likely Pathogenic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1998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</a:tr>
              <a:tr h="10712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T1700A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A78BF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VUS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2005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0"/>
                    </a:solidFill>
                  </a:tcPr>
                </a:tc>
              </a:tr>
              <a:tr h="1071264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R1699Q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8717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Pathogenic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94A3B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1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/ CELLULAR DYNAMICS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Functional Impact Pathways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778000"/>
            <a:ext cx="7112000" cy="50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159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4D3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Path A: Integrity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70000" y="2794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Normal repair preserves the genome.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0000" y="3556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4D3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DNA DAMAGE DETECTED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4D3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BRCA1 RECRUITMENT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34D3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HR REPAIR SUCCESSFUL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70000" y="6350000"/>
            <a:ext cx="6096000" cy="762000"/>
          </a:xfrm>
          <a:prstGeom prst="roundRect">
            <a:avLst>
              <a:gd name="adj" fmla="val 8000"/>
            </a:avLst>
          </a:prstGeom>
          <a:solidFill>
            <a:srgbClr val="34D399">
              <a:alpha val="8235"/>
            </a:srgbClr>
          </a:solidFill>
          <a:ln w="12700">
            <a:solidFill>
              <a:srgbClr val="34D399">
                <a:alpha val="25098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0000" y="6350000"/>
            <a:ext cx="609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4D3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GENOMIC STABILITY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82000" y="1778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00" y="1778000"/>
            <a:ext cx="7112000" cy="508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0" y="2159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8717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Path B: Malignancy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90000" y="2794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Mutation accumulation triggers tumor growth.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90000" y="3556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8717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REPAIR MECHANISM FAIL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8717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MUTATION ACCUMULATION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F8717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UNCONTROLLED DIVISION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90000" y="6350000"/>
            <a:ext cx="6096000" cy="762000"/>
          </a:xfrm>
          <a:prstGeom prst="roundRect">
            <a:avLst>
              <a:gd name="adj" fmla="val 8000"/>
            </a:avLst>
          </a:prstGeom>
          <a:solidFill>
            <a:srgbClr val="F87171">
              <a:alpha val="8235"/>
            </a:srgbClr>
          </a:solidFill>
          <a:ln w="12700">
            <a:solidFill>
              <a:srgbClr val="F87171">
                <a:alpha val="25098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90000" y="6350000"/>
            <a:ext cx="609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8717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ONCOGENESIS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 / SOLUTION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BRCA1 Insight Platform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9050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VARIANTS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2260600"/>
            <a:ext cx="292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445000" y="1778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9000" y="19050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AVG PATH RISK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99000" y="2260600"/>
            <a:ext cx="2921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0.87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762000" y="3302000"/>
            <a:ext cx="7112000" cy="4318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0000" y="3683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Clinical Intelligence Interface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70000" y="4318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Building an ecosystem that bridges the gap between raw genomic data and clinical actionability.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70000" y="6096000"/>
            <a:ext cx="2032000" cy="406400"/>
          </a:xfrm>
          <a:prstGeom prst="roundRect">
            <a:avLst>
              <a:gd name="adj" fmla="val 5000"/>
            </a:avLst>
          </a:prstGeom>
          <a:solidFill>
            <a:srgbClr val="38BDF8">
              <a:alpha val="8235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0000" y="6096000"/>
            <a:ext cx="203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SCALING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56000" y="6096000"/>
            <a:ext cx="1778000" cy="406400"/>
          </a:xfrm>
          <a:prstGeom prst="roundRect">
            <a:avLst>
              <a:gd name="adj" fmla="val 5000"/>
            </a:avLst>
          </a:prstGeom>
          <a:solidFill>
            <a:srgbClr val="38BDF8">
              <a:alpha val="8235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6000" y="6096000"/>
            <a:ext cx="177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ZERO LATENCY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82000" y="1778000"/>
            <a:ext cx="7112000" cy="584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0F172A"/>
              </a:gs>
              <a:gs pos="100000">
                <a:srgbClr val="020617"/>
              </a:gs>
            </a:gsLst>
            <a:lin ang="8100000" scaled="1"/>
          </a:gra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90000" y="2032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OVERVIEW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2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ANALYSIS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98000" y="2794000"/>
            <a:ext cx="5080000" cy="38100"/>
          </a:xfrm>
          <a:prstGeom prst="rect">
            <a:avLst/>
          </a:prstGeom>
          <a:solidFill>
            <a:srgbClr val="38BDF8">
              <a:alpha val="14902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398000" y="3302000"/>
            <a:ext cx="3810000" cy="38100"/>
          </a:xfrm>
          <a:prstGeom prst="rect">
            <a:avLst/>
          </a:prstGeom>
          <a:solidFill>
            <a:srgbClr val="38BDF8">
              <a:alpha val="14902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398000" y="3810000"/>
            <a:ext cx="4445000" cy="38100"/>
          </a:xfrm>
          <a:prstGeom prst="rect">
            <a:avLst/>
          </a:prstGeom>
          <a:solidFill>
            <a:srgbClr val="38BDF8">
              <a:alpha val="14902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398000" y="4445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070A12"/>
          </a:solidFill>
          <a:ln w="12700">
            <a:solidFill>
              <a:srgbClr val="38BDF8">
                <a:alpha val="14902"/>
              </a:srgbClr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398000" y="4445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DASHBOARD MOCKUP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 / INTERACTIVE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3D Molecular Structural 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pic>
        <p:nvPicPr>
          <p:cNvPr id="5" name="Image 0" descr="https://kimi-img.moonshot.cn/pub/slides/okc/m7tk4qkc6pqds/mnt/agents/output/brca1-presentation/images/molecular_bg.png">    </p:cNvPr>
          <p:cNvPicPr>
            <a:picLocks noChangeAspect="1"/>
          </p:cNvPicPr>
          <p:nvPr/>
        </p:nvPicPr>
        <p:blipFill>
          <a:blip r:embed="rId1"/>
          <a:srcRect l="15217" r="15217" t="0" b="0"/>
          <a:stretch/>
        </p:blipFill>
        <p:spPr>
          <a:xfrm>
            <a:off x="762000" y="1778000"/>
            <a:ext cx="7112000" cy="58420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62000" y="1778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000000">
              <a:alpha val="50196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540000" y="4318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3D Viewer (PDB: 1JNX)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382000" y="1778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82000" y="1778000"/>
            <a:ext cx="7112000" cy="38100"/>
          </a:xfrm>
          <a:prstGeom prst="rect">
            <a:avLst/>
          </a:prstGeom>
          <a:gradFill rotWithShape="1" flip="none">
            <a:gsLst>
              <a:gs pos="0">
                <a:srgbClr val="38BDF8">
                  <a:alpha val="0"/>
                </a:srgbClr>
              </a:gs>
              <a:gs pos="50000">
                <a:srgbClr val="38BDF8"/>
              </a:gs>
              <a:gs pos="100000">
                <a:srgbClr val="38BDF8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0" name="Text 7"/>
          <p:cNvSpPr/>
          <p:nvPr/>
        </p:nvSpPr>
        <p:spPr>
          <a:xfrm>
            <a:off x="8890000" y="2159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PDB: 1JNX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890000" y="2921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 browser-side rendering of the BRCT domain. Researchers can verify structural stability when missense mutations occur at binding interfaces.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890000" y="50800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34D3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ATOM MAPPING ACTIVE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34D3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RIBBON SPECTRUM RENDERING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34D3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CLIENT-SIDE RAYCASTING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 / PREDICTIVE MODELING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Patient Risk Simulation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70000" y="2159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Heuristic Algorithm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70000" y="3048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Mutation Risk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0" y="3048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0.98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70000" y="3683000"/>
            <a:ext cx="6096000" cy="12700"/>
          </a:xfrm>
          <a:prstGeom prst="rect">
            <a:avLst/>
          </a:prstGeom>
          <a:solidFill>
            <a:srgbClr val="38BDF8">
              <a:alpha val="14902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70000" y="4064000"/>
            <a:ext cx="6096000" cy="76200"/>
          </a:xfrm>
          <a:prstGeom prst="roundRect">
            <a:avLst>
              <a:gd name="adj" fmla="val 3000"/>
            </a:avLst>
          </a:prstGeom>
          <a:solidFill>
            <a:srgbClr val="FFFFFF">
              <a:alpha val="6275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70000" y="4064000"/>
            <a:ext cx="4876800" cy="76200"/>
          </a:xfrm>
          <a:prstGeom prst="roundRect">
            <a:avLst>
              <a:gd name="adj" fmla="val 3000"/>
            </a:avLst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5994400" y="3987800"/>
            <a:ext cx="228600" cy="2286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0" y="457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 Factor (45yr+)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6000" y="4572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+5%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70000" y="5207000"/>
            <a:ext cx="6096000" cy="12700"/>
          </a:xfrm>
          <a:prstGeom prst="rect">
            <a:avLst/>
          </a:prstGeom>
          <a:solidFill>
            <a:srgbClr val="38BDF8">
              <a:alpha val="14902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546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Environment Multiplier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6000" y="5461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x1.20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70000" y="6096000"/>
            <a:ext cx="6096000" cy="12700"/>
          </a:xfrm>
          <a:prstGeom prst="rect">
            <a:avLst/>
          </a:prstGeom>
          <a:solidFill>
            <a:srgbClr val="38BDF8">
              <a:alpha val="14902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635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Adjusted Patient Risk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96000" y="6350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2200" b="1" dirty="0">
                <a:solidFill>
                  <a:srgbClr val="F8717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0.999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1778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38BDF8">
              <a:alpha val="1961"/>
            </a:srgbClr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127000" y="127000"/>
                </a:moveTo>
                <a:cubicBezTo>
                  <a:pt x="127000" y="91877"/>
                  <a:pt x="98623" y="63500"/>
                  <a:pt x="63500" y="63500"/>
                </a:cubicBezTo>
                <a:cubicBezTo>
                  <a:pt x="28377" y="63500"/>
                  <a:pt x="0" y="91877"/>
                  <a:pt x="0" y="127000"/>
                </a:cubicBezTo>
                <a:lnTo>
                  <a:pt x="0" y="793750"/>
                </a:lnTo>
                <a:cubicBezTo>
                  <a:pt x="0" y="881459"/>
                  <a:pt x="71041" y="952500"/>
                  <a:pt x="158750" y="952500"/>
                </a:cubicBezTo>
                <a:lnTo>
                  <a:pt x="952500" y="952500"/>
                </a:lnTo>
                <a:cubicBezTo>
                  <a:pt x="987623" y="952500"/>
                  <a:pt x="1016000" y="924123"/>
                  <a:pt x="1016000" y="889000"/>
                </a:cubicBezTo>
                <a:cubicBezTo>
                  <a:pt x="1016000" y="853877"/>
                  <a:pt x="987623" y="825500"/>
                  <a:pt x="952500" y="825500"/>
                </a:cubicBezTo>
                <a:lnTo>
                  <a:pt x="158750" y="825500"/>
                </a:lnTo>
                <a:cubicBezTo>
                  <a:pt x="141288" y="825500"/>
                  <a:pt x="127000" y="811213"/>
                  <a:pt x="127000" y="793750"/>
                </a:cubicBezTo>
                <a:lnTo>
                  <a:pt x="127000" y="127000"/>
                </a:lnTo>
                <a:close/>
                <a:moveTo>
                  <a:pt x="933847" y="298847"/>
                </a:moveTo>
                <a:cubicBezTo>
                  <a:pt x="958652" y="274042"/>
                  <a:pt x="958652" y="233759"/>
                  <a:pt x="933847" y="208955"/>
                </a:cubicBezTo>
                <a:cubicBezTo>
                  <a:pt x="909042" y="184150"/>
                  <a:pt x="868759" y="184150"/>
                  <a:pt x="843955" y="208955"/>
                </a:cubicBezTo>
                <a:lnTo>
                  <a:pt x="635000" y="418108"/>
                </a:lnTo>
                <a:lnTo>
                  <a:pt x="521097" y="304403"/>
                </a:lnTo>
                <a:cubicBezTo>
                  <a:pt x="496292" y="279598"/>
                  <a:pt x="456009" y="279598"/>
                  <a:pt x="431205" y="304403"/>
                </a:cubicBezTo>
                <a:lnTo>
                  <a:pt x="240705" y="494903"/>
                </a:lnTo>
                <a:cubicBezTo>
                  <a:pt x="215900" y="519708"/>
                  <a:pt x="215900" y="559991"/>
                  <a:pt x="240705" y="584795"/>
                </a:cubicBezTo>
                <a:cubicBezTo>
                  <a:pt x="265509" y="609600"/>
                  <a:pt x="305792" y="609600"/>
                  <a:pt x="330597" y="584795"/>
                </a:cubicBezTo>
                <a:lnTo>
                  <a:pt x="476250" y="439142"/>
                </a:lnTo>
                <a:lnTo>
                  <a:pt x="590153" y="553045"/>
                </a:lnTo>
                <a:cubicBezTo>
                  <a:pt x="614958" y="577850"/>
                  <a:pt x="655241" y="577850"/>
                  <a:pt x="680045" y="553045"/>
                </a:cubicBezTo>
                <a:lnTo>
                  <a:pt x="934045" y="299045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3937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Delta-Shift Analysis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44000" y="4699000"/>
            <a:ext cx="558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Evaluating how lifestyle modifiers either escalate or mitigate the genetic predisposition.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 / ADVANCED ANALYTICS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Multi-Dimensional Risk Radar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838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270000" y="2286000"/>
          <a:ext cx="7366000" cy="482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9652000" y="1778000"/>
            <a:ext cx="584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52000" y="1778000"/>
            <a:ext cx="5842000" cy="38100"/>
          </a:xfrm>
          <a:prstGeom prst="rect">
            <a:avLst/>
          </a:prstGeom>
          <a:gradFill rotWithShape="1" flip="none">
            <a:gsLst>
              <a:gs pos="0">
                <a:srgbClr val="38BDF8">
                  <a:alpha val="0"/>
                </a:srgbClr>
              </a:gs>
              <a:gs pos="50000">
                <a:srgbClr val="38BDF8"/>
              </a:gs>
              <a:gs pos="100000">
                <a:srgbClr val="38BDF8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10160000" y="2286000"/>
            <a:ext cx="4826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Comparison of all five clinical variants across one unified risk landscape.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2000"/>
              </a:spcBef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allows for instant identification of </a:t>
            </a:r>
            <a:pPr>
              <a:lnSpc>
                <a:spcPct val="150000"/>
              </a:lnSpc>
              <a:spcBef>
                <a:spcPts val="2000"/>
              </a:spcBef>
            </a:pP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Risk Outliers</a:t>
            </a:r>
            <a:pPr>
              <a:lnSpc>
                <a:spcPct val="150000"/>
              </a:lnSpc>
              <a:spcBef>
                <a:spcPts val="2000"/>
              </a:spcBef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50000"/>
              </a:lnSpc>
              <a:spcBef>
                <a:spcPts val="2000"/>
              </a:spcBef>
            </a:pP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VUS Clusters</a:t>
            </a:r>
            <a:pPr>
              <a:lnSpc>
                <a:spcPct val="150000"/>
              </a:lnSpc>
              <a:spcBef>
                <a:spcPts val="2000"/>
              </a:spcBef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within the cohort.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TECHNICAL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14732000" cy="5080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2921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0A0F1C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3625" y="3302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328761" y="183505"/>
                </a:moveTo>
                <a:cubicBezTo>
                  <a:pt x="330250" y="184249"/>
                  <a:pt x="331440" y="186035"/>
                  <a:pt x="333226" y="186035"/>
                </a:cubicBezTo>
                <a:cubicBezTo>
                  <a:pt x="334863" y="186035"/>
                  <a:pt x="337393" y="185440"/>
                  <a:pt x="337542" y="183803"/>
                </a:cubicBezTo>
                <a:cubicBezTo>
                  <a:pt x="337840" y="181719"/>
                  <a:pt x="334714" y="180380"/>
                  <a:pt x="332780" y="179487"/>
                </a:cubicBezTo>
                <a:cubicBezTo>
                  <a:pt x="330250" y="178445"/>
                  <a:pt x="326975" y="177998"/>
                  <a:pt x="324594" y="179338"/>
                </a:cubicBezTo>
                <a:cubicBezTo>
                  <a:pt x="323999" y="179636"/>
                  <a:pt x="323404" y="180380"/>
                  <a:pt x="323701" y="180975"/>
                </a:cubicBezTo>
                <a:cubicBezTo>
                  <a:pt x="324148" y="182910"/>
                  <a:pt x="327124" y="182612"/>
                  <a:pt x="328761" y="183505"/>
                </a:cubicBezTo>
                <a:close/>
                <a:moveTo>
                  <a:pt x="296168" y="186035"/>
                </a:moveTo>
                <a:cubicBezTo>
                  <a:pt x="297954" y="186035"/>
                  <a:pt x="299145" y="184249"/>
                  <a:pt x="300633" y="183505"/>
                </a:cubicBezTo>
                <a:cubicBezTo>
                  <a:pt x="302270" y="182612"/>
                  <a:pt x="305246" y="182910"/>
                  <a:pt x="305842" y="181124"/>
                </a:cubicBezTo>
                <a:cubicBezTo>
                  <a:pt x="306139" y="180529"/>
                  <a:pt x="305544" y="179784"/>
                  <a:pt x="304949" y="179487"/>
                </a:cubicBezTo>
                <a:cubicBezTo>
                  <a:pt x="302568" y="178147"/>
                  <a:pt x="299293" y="178594"/>
                  <a:pt x="296763" y="179636"/>
                </a:cubicBezTo>
                <a:cubicBezTo>
                  <a:pt x="294829" y="180529"/>
                  <a:pt x="291703" y="181868"/>
                  <a:pt x="292001" y="183952"/>
                </a:cubicBezTo>
                <a:cubicBezTo>
                  <a:pt x="292150" y="185440"/>
                  <a:pt x="294680" y="186184"/>
                  <a:pt x="296168" y="186035"/>
                </a:cubicBezTo>
                <a:close/>
                <a:moveTo>
                  <a:pt x="625078" y="600968"/>
                </a:moveTo>
                <a:cubicBezTo>
                  <a:pt x="619720" y="595015"/>
                  <a:pt x="617190" y="583704"/>
                  <a:pt x="614363" y="571649"/>
                </a:cubicBezTo>
                <a:cubicBezTo>
                  <a:pt x="611684" y="559594"/>
                  <a:pt x="608558" y="546646"/>
                  <a:pt x="598736" y="538311"/>
                </a:cubicBezTo>
                <a:cubicBezTo>
                  <a:pt x="596801" y="536674"/>
                  <a:pt x="594866" y="535186"/>
                  <a:pt x="592782" y="533995"/>
                </a:cubicBezTo>
                <a:cubicBezTo>
                  <a:pt x="590848" y="532805"/>
                  <a:pt x="588764" y="531763"/>
                  <a:pt x="586680" y="531019"/>
                </a:cubicBezTo>
                <a:cubicBezTo>
                  <a:pt x="600373" y="490389"/>
                  <a:pt x="595015" y="449907"/>
                  <a:pt x="581174" y="413296"/>
                </a:cubicBezTo>
                <a:cubicBezTo>
                  <a:pt x="564207" y="368498"/>
                  <a:pt x="534591" y="329357"/>
                  <a:pt x="511969" y="302568"/>
                </a:cubicBezTo>
                <a:cubicBezTo>
                  <a:pt x="486519" y="270570"/>
                  <a:pt x="461814" y="240209"/>
                  <a:pt x="462260" y="195411"/>
                </a:cubicBezTo>
                <a:cubicBezTo>
                  <a:pt x="463004" y="127099"/>
                  <a:pt x="469850" y="149"/>
                  <a:pt x="349448" y="0"/>
                </a:cubicBezTo>
                <a:cubicBezTo>
                  <a:pt x="197048" y="-298"/>
                  <a:pt x="235148" y="153888"/>
                  <a:pt x="233511" y="201216"/>
                </a:cubicBezTo>
                <a:cubicBezTo>
                  <a:pt x="230981" y="236041"/>
                  <a:pt x="223986" y="263426"/>
                  <a:pt x="200025" y="297507"/>
                </a:cubicBezTo>
                <a:cubicBezTo>
                  <a:pt x="171896" y="330994"/>
                  <a:pt x="132308" y="385018"/>
                  <a:pt x="113556" y="441424"/>
                </a:cubicBezTo>
                <a:cubicBezTo>
                  <a:pt x="104626" y="468064"/>
                  <a:pt x="100459" y="495151"/>
                  <a:pt x="104329" y="520750"/>
                </a:cubicBezTo>
                <a:cubicBezTo>
                  <a:pt x="94655" y="529382"/>
                  <a:pt x="87362" y="542627"/>
                  <a:pt x="79623" y="550813"/>
                </a:cubicBezTo>
                <a:cubicBezTo>
                  <a:pt x="73372" y="557213"/>
                  <a:pt x="64294" y="559594"/>
                  <a:pt x="54322" y="563166"/>
                </a:cubicBezTo>
                <a:cubicBezTo>
                  <a:pt x="44351" y="566738"/>
                  <a:pt x="33486" y="572095"/>
                  <a:pt x="26789" y="584746"/>
                </a:cubicBezTo>
                <a:cubicBezTo>
                  <a:pt x="23664" y="590550"/>
                  <a:pt x="22622" y="596801"/>
                  <a:pt x="22622" y="603200"/>
                </a:cubicBezTo>
                <a:cubicBezTo>
                  <a:pt x="22622" y="609005"/>
                  <a:pt x="23515" y="614958"/>
                  <a:pt x="24408" y="620762"/>
                </a:cubicBezTo>
                <a:cubicBezTo>
                  <a:pt x="26194" y="632817"/>
                  <a:pt x="28129" y="644128"/>
                  <a:pt x="25598" y="651718"/>
                </a:cubicBezTo>
                <a:cubicBezTo>
                  <a:pt x="17859" y="673150"/>
                  <a:pt x="16818" y="688032"/>
                  <a:pt x="22324" y="698897"/>
                </a:cubicBezTo>
                <a:cubicBezTo>
                  <a:pt x="27980" y="709761"/>
                  <a:pt x="39291" y="714524"/>
                  <a:pt x="52239" y="717203"/>
                </a:cubicBezTo>
                <a:cubicBezTo>
                  <a:pt x="77986" y="722561"/>
                  <a:pt x="112961" y="721221"/>
                  <a:pt x="140494" y="735806"/>
                </a:cubicBezTo>
                <a:cubicBezTo>
                  <a:pt x="169962" y="751284"/>
                  <a:pt x="199876" y="756791"/>
                  <a:pt x="223689" y="751284"/>
                </a:cubicBezTo>
                <a:cubicBezTo>
                  <a:pt x="240953" y="747415"/>
                  <a:pt x="255091" y="736997"/>
                  <a:pt x="262235" y="721221"/>
                </a:cubicBezTo>
                <a:cubicBezTo>
                  <a:pt x="280839" y="721072"/>
                  <a:pt x="301377" y="713184"/>
                  <a:pt x="334119" y="711398"/>
                </a:cubicBezTo>
                <a:cubicBezTo>
                  <a:pt x="356295" y="709613"/>
                  <a:pt x="384125" y="719286"/>
                  <a:pt x="416123" y="717500"/>
                </a:cubicBezTo>
                <a:cubicBezTo>
                  <a:pt x="417016" y="720923"/>
                  <a:pt x="418207" y="724346"/>
                  <a:pt x="419844" y="727472"/>
                </a:cubicBezTo>
                <a:lnTo>
                  <a:pt x="419844" y="727621"/>
                </a:lnTo>
                <a:cubicBezTo>
                  <a:pt x="432197" y="752475"/>
                  <a:pt x="455265" y="763786"/>
                  <a:pt x="479822" y="761851"/>
                </a:cubicBezTo>
                <a:cubicBezTo>
                  <a:pt x="504527" y="759916"/>
                  <a:pt x="530572" y="745480"/>
                  <a:pt x="551706" y="720328"/>
                </a:cubicBezTo>
                <a:cubicBezTo>
                  <a:pt x="571946" y="695920"/>
                  <a:pt x="605284" y="685800"/>
                  <a:pt x="627459" y="672405"/>
                </a:cubicBezTo>
                <a:cubicBezTo>
                  <a:pt x="638473" y="665708"/>
                  <a:pt x="647402" y="657374"/>
                  <a:pt x="648146" y="645170"/>
                </a:cubicBezTo>
                <a:cubicBezTo>
                  <a:pt x="648742" y="632966"/>
                  <a:pt x="641598" y="619423"/>
                  <a:pt x="625078" y="600968"/>
                </a:cubicBezTo>
                <a:close/>
                <a:moveTo>
                  <a:pt x="333077" y="129927"/>
                </a:moveTo>
                <a:cubicBezTo>
                  <a:pt x="347663" y="96887"/>
                  <a:pt x="383977" y="97482"/>
                  <a:pt x="398562" y="129332"/>
                </a:cubicBezTo>
                <a:cubicBezTo>
                  <a:pt x="408236" y="150465"/>
                  <a:pt x="403920" y="175320"/>
                  <a:pt x="392162" y="189458"/>
                </a:cubicBezTo>
                <a:cubicBezTo>
                  <a:pt x="389781" y="188268"/>
                  <a:pt x="383381" y="185589"/>
                  <a:pt x="373410" y="182166"/>
                </a:cubicBezTo>
                <a:cubicBezTo>
                  <a:pt x="375047" y="180380"/>
                  <a:pt x="378023" y="178147"/>
                  <a:pt x="379214" y="175320"/>
                </a:cubicBezTo>
                <a:cubicBezTo>
                  <a:pt x="386358" y="157758"/>
                  <a:pt x="378916" y="135136"/>
                  <a:pt x="365671" y="134689"/>
                </a:cubicBezTo>
                <a:cubicBezTo>
                  <a:pt x="354806" y="133945"/>
                  <a:pt x="344984" y="150763"/>
                  <a:pt x="348109" y="168920"/>
                </a:cubicBezTo>
                <a:cubicBezTo>
                  <a:pt x="342007" y="165943"/>
                  <a:pt x="334119" y="163711"/>
                  <a:pt x="328761" y="162371"/>
                </a:cubicBezTo>
                <a:cubicBezTo>
                  <a:pt x="327273" y="152102"/>
                  <a:pt x="328315" y="140643"/>
                  <a:pt x="333077" y="129927"/>
                </a:cubicBezTo>
                <a:close/>
                <a:moveTo>
                  <a:pt x="272504" y="112812"/>
                </a:moveTo>
                <a:cubicBezTo>
                  <a:pt x="287536" y="112812"/>
                  <a:pt x="303461" y="133945"/>
                  <a:pt x="300930" y="162669"/>
                </a:cubicBezTo>
                <a:cubicBezTo>
                  <a:pt x="295721" y="164157"/>
                  <a:pt x="290364" y="166390"/>
                  <a:pt x="285750" y="169515"/>
                </a:cubicBezTo>
                <a:cubicBezTo>
                  <a:pt x="287536" y="156270"/>
                  <a:pt x="280839" y="139601"/>
                  <a:pt x="271463" y="140345"/>
                </a:cubicBezTo>
                <a:cubicBezTo>
                  <a:pt x="258961" y="141387"/>
                  <a:pt x="256877" y="171896"/>
                  <a:pt x="268784" y="182166"/>
                </a:cubicBezTo>
                <a:cubicBezTo>
                  <a:pt x="270272" y="183356"/>
                  <a:pt x="271611" y="181868"/>
                  <a:pt x="260003" y="190351"/>
                </a:cubicBezTo>
                <a:cubicBezTo>
                  <a:pt x="236786" y="168622"/>
                  <a:pt x="244376" y="112812"/>
                  <a:pt x="272504" y="112812"/>
                </a:cubicBezTo>
                <a:close/>
                <a:moveTo>
                  <a:pt x="252264" y="203150"/>
                </a:moveTo>
                <a:cubicBezTo>
                  <a:pt x="261491" y="196304"/>
                  <a:pt x="272504" y="188268"/>
                  <a:pt x="273248" y="187523"/>
                </a:cubicBezTo>
                <a:cubicBezTo>
                  <a:pt x="280243" y="180975"/>
                  <a:pt x="293340" y="166390"/>
                  <a:pt x="314771" y="166390"/>
                </a:cubicBezTo>
                <a:cubicBezTo>
                  <a:pt x="325338" y="166390"/>
                  <a:pt x="337989" y="169813"/>
                  <a:pt x="353318" y="179636"/>
                </a:cubicBezTo>
                <a:cubicBezTo>
                  <a:pt x="362694" y="185738"/>
                  <a:pt x="370136" y="186184"/>
                  <a:pt x="386953" y="193477"/>
                </a:cubicBezTo>
                <a:cubicBezTo>
                  <a:pt x="399455" y="198686"/>
                  <a:pt x="407343" y="207913"/>
                  <a:pt x="402580" y="220563"/>
                </a:cubicBezTo>
                <a:cubicBezTo>
                  <a:pt x="398711" y="231130"/>
                  <a:pt x="386209" y="241995"/>
                  <a:pt x="368796" y="247501"/>
                </a:cubicBezTo>
                <a:cubicBezTo>
                  <a:pt x="352276" y="252859"/>
                  <a:pt x="339328" y="271314"/>
                  <a:pt x="311944" y="269677"/>
                </a:cubicBezTo>
                <a:cubicBezTo>
                  <a:pt x="306139" y="269379"/>
                  <a:pt x="301526" y="268188"/>
                  <a:pt x="297656" y="266551"/>
                </a:cubicBezTo>
                <a:cubicBezTo>
                  <a:pt x="285750" y="261342"/>
                  <a:pt x="279499" y="251073"/>
                  <a:pt x="267891" y="244227"/>
                </a:cubicBezTo>
                <a:cubicBezTo>
                  <a:pt x="255091" y="237083"/>
                  <a:pt x="248245" y="228749"/>
                  <a:pt x="246013" y="221456"/>
                </a:cubicBezTo>
                <a:cubicBezTo>
                  <a:pt x="243929" y="214164"/>
                  <a:pt x="246013" y="208062"/>
                  <a:pt x="252264" y="203150"/>
                </a:cubicBezTo>
                <a:close/>
                <a:moveTo>
                  <a:pt x="257175" y="700236"/>
                </a:moveTo>
                <a:cubicBezTo>
                  <a:pt x="253157" y="752475"/>
                  <a:pt x="191839" y="751433"/>
                  <a:pt x="145107" y="727025"/>
                </a:cubicBezTo>
                <a:cubicBezTo>
                  <a:pt x="100608" y="703511"/>
                  <a:pt x="43011" y="717352"/>
                  <a:pt x="31254" y="694432"/>
                </a:cubicBezTo>
                <a:cubicBezTo>
                  <a:pt x="27682" y="687437"/>
                  <a:pt x="27682" y="675531"/>
                  <a:pt x="35123" y="655141"/>
                </a:cubicBezTo>
                <a:lnTo>
                  <a:pt x="35123" y="654844"/>
                </a:lnTo>
                <a:cubicBezTo>
                  <a:pt x="38695" y="643533"/>
                  <a:pt x="36016" y="631031"/>
                  <a:pt x="34230" y="619274"/>
                </a:cubicBezTo>
                <a:cubicBezTo>
                  <a:pt x="32445" y="607665"/>
                  <a:pt x="31552" y="596950"/>
                  <a:pt x="35570" y="589508"/>
                </a:cubicBezTo>
                <a:cubicBezTo>
                  <a:pt x="40779" y="579537"/>
                  <a:pt x="48220" y="575965"/>
                  <a:pt x="57596" y="572691"/>
                </a:cubicBezTo>
                <a:cubicBezTo>
                  <a:pt x="72926" y="567184"/>
                  <a:pt x="75158" y="567630"/>
                  <a:pt x="86767" y="557957"/>
                </a:cubicBezTo>
                <a:cubicBezTo>
                  <a:pt x="94952" y="549473"/>
                  <a:pt x="100905" y="538758"/>
                  <a:pt x="108049" y="531168"/>
                </a:cubicBezTo>
                <a:cubicBezTo>
                  <a:pt x="115639" y="522982"/>
                  <a:pt x="122932" y="519113"/>
                  <a:pt x="134392" y="520898"/>
                </a:cubicBezTo>
                <a:cubicBezTo>
                  <a:pt x="146447" y="522684"/>
                  <a:pt x="156865" y="531019"/>
                  <a:pt x="166985" y="544711"/>
                </a:cubicBezTo>
                <a:lnTo>
                  <a:pt x="196155" y="597694"/>
                </a:lnTo>
                <a:cubicBezTo>
                  <a:pt x="210294" y="627311"/>
                  <a:pt x="260300" y="669727"/>
                  <a:pt x="257175" y="700236"/>
                </a:cubicBezTo>
                <a:close/>
                <a:moveTo>
                  <a:pt x="255091" y="661690"/>
                </a:moveTo>
                <a:cubicBezTo>
                  <a:pt x="248989" y="651867"/>
                  <a:pt x="240804" y="641449"/>
                  <a:pt x="233660" y="632520"/>
                </a:cubicBezTo>
                <a:cubicBezTo>
                  <a:pt x="244227" y="632520"/>
                  <a:pt x="254794" y="629245"/>
                  <a:pt x="258514" y="619274"/>
                </a:cubicBezTo>
                <a:cubicBezTo>
                  <a:pt x="261938" y="610046"/>
                  <a:pt x="258514" y="597098"/>
                  <a:pt x="247501" y="582216"/>
                </a:cubicBezTo>
                <a:cubicBezTo>
                  <a:pt x="227409" y="555129"/>
                  <a:pt x="190500" y="533846"/>
                  <a:pt x="190500" y="533846"/>
                </a:cubicBezTo>
                <a:cubicBezTo>
                  <a:pt x="170408" y="521345"/>
                  <a:pt x="159097" y="506016"/>
                  <a:pt x="153888" y="489347"/>
                </a:cubicBezTo>
                <a:cubicBezTo>
                  <a:pt x="148679" y="472678"/>
                  <a:pt x="149423" y="454670"/>
                  <a:pt x="153442" y="436959"/>
                </a:cubicBezTo>
                <a:cubicBezTo>
                  <a:pt x="161181" y="402878"/>
                  <a:pt x="181124" y="369689"/>
                  <a:pt x="193923" y="348853"/>
                </a:cubicBezTo>
                <a:cubicBezTo>
                  <a:pt x="197346" y="346323"/>
                  <a:pt x="195114" y="353616"/>
                  <a:pt x="180975" y="379809"/>
                </a:cubicBezTo>
                <a:cubicBezTo>
                  <a:pt x="168325" y="403771"/>
                  <a:pt x="144661" y="459135"/>
                  <a:pt x="177105" y="502444"/>
                </a:cubicBezTo>
                <a:cubicBezTo>
                  <a:pt x="177998" y="471636"/>
                  <a:pt x="185291" y="440234"/>
                  <a:pt x="197644" y="410914"/>
                </a:cubicBezTo>
                <a:cubicBezTo>
                  <a:pt x="215503" y="370136"/>
                  <a:pt x="253157" y="299442"/>
                  <a:pt x="256133" y="243185"/>
                </a:cubicBezTo>
                <a:cubicBezTo>
                  <a:pt x="257770" y="244376"/>
                  <a:pt x="262979" y="247948"/>
                  <a:pt x="265361" y="249287"/>
                </a:cubicBezTo>
                <a:cubicBezTo>
                  <a:pt x="272207" y="253305"/>
                  <a:pt x="277416" y="259259"/>
                  <a:pt x="284113" y="264616"/>
                </a:cubicBezTo>
                <a:cubicBezTo>
                  <a:pt x="302568" y="279499"/>
                  <a:pt x="326529" y="278309"/>
                  <a:pt x="347216" y="266402"/>
                </a:cubicBezTo>
                <a:cubicBezTo>
                  <a:pt x="356443" y="261193"/>
                  <a:pt x="363885" y="255240"/>
                  <a:pt x="370880" y="253008"/>
                </a:cubicBezTo>
                <a:cubicBezTo>
                  <a:pt x="385614" y="248394"/>
                  <a:pt x="397371" y="240209"/>
                  <a:pt x="404068" y="230684"/>
                </a:cubicBezTo>
                <a:cubicBezTo>
                  <a:pt x="415528" y="275927"/>
                  <a:pt x="442317" y="341263"/>
                  <a:pt x="459432" y="373112"/>
                </a:cubicBezTo>
                <a:cubicBezTo>
                  <a:pt x="468511" y="390079"/>
                  <a:pt x="486668" y="425946"/>
                  <a:pt x="494556" y="469255"/>
                </a:cubicBezTo>
                <a:cubicBezTo>
                  <a:pt x="499467" y="469106"/>
                  <a:pt x="504974" y="469850"/>
                  <a:pt x="510778" y="471339"/>
                </a:cubicBezTo>
                <a:cubicBezTo>
                  <a:pt x="531316" y="418207"/>
                  <a:pt x="493365" y="360908"/>
                  <a:pt x="476101" y="344984"/>
                </a:cubicBezTo>
                <a:cubicBezTo>
                  <a:pt x="469106" y="338138"/>
                  <a:pt x="468809" y="335161"/>
                  <a:pt x="472232" y="335310"/>
                </a:cubicBezTo>
                <a:cubicBezTo>
                  <a:pt x="490984" y="351979"/>
                  <a:pt x="515689" y="385465"/>
                  <a:pt x="524619" y="423118"/>
                </a:cubicBezTo>
                <a:cubicBezTo>
                  <a:pt x="528786" y="440382"/>
                  <a:pt x="529530" y="458391"/>
                  <a:pt x="525214" y="476250"/>
                </a:cubicBezTo>
                <a:cubicBezTo>
                  <a:pt x="549622" y="486370"/>
                  <a:pt x="578644" y="502890"/>
                  <a:pt x="570905" y="528042"/>
                </a:cubicBezTo>
                <a:cubicBezTo>
                  <a:pt x="567630" y="527893"/>
                  <a:pt x="566142" y="528042"/>
                  <a:pt x="564654" y="528042"/>
                </a:cubicBezTo>
                <a:cubicBezTo>
                  <a:pt x="569416" y="513011"/>
                  <a:pt x="558850" y="501848"/>
                  <a:pt x="530721" y="489198"/>
                </a:cubicBezTo>
                <a:cubicBezTo>
                  <a:pt x="501551" y="476399"/>
                  <a:pt x="477143" y="476399"/>
                  <a:pt x="473720" y="507802"/>
                </a:cubicBezTo>
                <a:cubicBezTo>
                  <a:pt x="455712" y="514052"/>
                  <a:pt x="446484" y="529679"/>
                  <a:pt x="441871" y="548432"/>
                </a:cubicBezTo>
                <a:cubicBezTo>
                  <a:pt x="437704" y="565100"/>
                  <a:pt x="436513" y="585192"/>
                  <a:pt x="435322" y="607814"/>
                </a:cubicBezTo>
                <a:cubicBezTo>
                  <a:pt x="434578" y="619274"/>
                  <a:pt x="429964" y="634603"/>
                  <a:pt x="425202" y="650974"/>
                </a:cubicBezTo>
                <a:cubicBezTo>
                  <a:pt x="377428" y="685056"/>
                  <a:pt x="311051" y="699939"/>
                  <a:pt x="255091" y="661690"/>
                </a:cubicBezTo>
                <a:close/>
                <a:moveTo>
                  <a:pt x="638175" y="644575"/>
                </a:moveTo>
                <a:cubicBezTo>
                  <a:pt x="636836" y="669578"/>
                  <a:pt x="576858" y="674191"/>
                  <a:pt x="544116" y="713780"/>
                </a:cubicBezTo>
                <a:cubicBezTo>
                  <a:pt x="524470" y="737146"/>
                  <a:pt x="500360" y="750094"/>
                  <a:pt x="479227" y="751731"/>
                </a:cubicBezTo>
                <a:cubicBezTo>
                  <a:pt x="458093" y="753368"/>
                  <a:pt x="439787" y="744587"/>
                  <a:pt x="429071" y="723007"/>
                </a:cubicBezTo>
                <a:cubicBezTo>
                  <a:pt x="422077" y="706487"/>
                  <a:pt x="425500" y="688628"/>
                  <a:pt x="430709" y="668982"/>
                </a:cubicBezTo>
                <a:cubicBezTo>
                  <a:pt x="436215" y="647849"/>
                  <a:pt x="444401" y="626120"/>
                  <a:pt x="445443" y="608558"/>
                </a:cubicBezTo>
                <a:cubicBezTo>
                  <a:pt x="446633" y="585936"/>
                  <a:pt x="447973" y="566142"/>
                  <a:pt x="451693" y="550962"/>
                </a:cubicBezTo>
                <a:cubicBezTo>
                  <a:pt x="455563" y="535632"/>
                  <a:pt x="461516" y="525363"/>
                  <a:pt x="472083" y="519559"/>
                </a:cubicBezTo>
                <a:cubicBezTo>
                  <a:pt x="472529" y="519261"/>
                  <a:pt x="473125" y="519112"/>
                  <a:pt x="473571" y="518815"/>
                </a:cubicBezTo>
                <a:cubicBezTo>
                  <a:pt x="474762" y="538460"/>
                  <a:pt x="484436" y="558403"/>
                  <a:pt x="501551" y="562719"/>
                </a:cubicBezTo>
                <a:cubicBezTo>
                  <a:pt x="520303" y="567630"/>
                  <a:pt x="547241" y="551557"/>
                  <a:pt x="558701" y="538460"/>
                </a:cubicBezTo>
                <a:cubicBezTo>
                  <a:pt x="572095" y="538014"/>
                  <a:pt x="582067" y="537121"/>
                  <a:pt x="592336" y="546050"/>
                </a:cubicBezTo>
                <a:cubicBezTo>
                  <a:pt x="607070" y="558701"/>
                  <a:pt x="602903" y="591145"/>
                  <a:pt x="617786" y="607963"/>
                </a:cubicBezTo>
                <a:cubicBezTo>
                  <a:pt x="633561" y="625227"/>
                  <a:pt x="638621" y="636984"/>
                  <a:pt x="638175" y="644575"/>
                </a:cubicBezTo>
                <a:close/>
                <a:moveTo>
                  <a:pt x="258068" y="221307"/>
                </a:moveTo>
                <a:cubicBezTo>
                  <a:pt x="261045" y="224135"/>
                  <a:pt x="265063" y="228005"/>
                  <a:pt x="269974" y="231874"/>
                </a:cubicBezTo>
                <a:cubicBezTo>
                  <a:pt x="279797" y="239613"/>
                  <a:pt x="293489" y="247650"/>
                  <a:pt x="310604" y="247650"/>
                </a:cubicBezTo>
                <a:cubicBezTo>
                  <a:pt x="327868" y="247650"/>
                  <a:pt x="344091" y="238869"/>
                  <a:pt x="357932" y="231577"/>
                </a:cubicBezTo>
                <a:cubicBezTo>
                  <a:pt x="365224" y="227707"/>
                  <a:pt x="374154" y="221159"/>
                  <a:pt x="379958" y="216098"/>
                </a:cubicBezTo>
                <a:cubicBezTo>
                  <a:pt x="385763" y="211038"/>
                  <a:pt x="388739" y="206722"/>
                  <a:pt x="384572" y="206276"/>
                </a:cubicBezTo>
                <a:cubicBezTo>
                  <a:pt x="380405" y="205829"/>
                  <a:pt x="380702" y="210145"/>
                  <a:pt x="375642" y="213866"/>
                </a:cubicBezTo>
                <a:cubicBezTo>
                  <a:pt x="369094" y="218629"/>
                  <a:pt x="361206" y="224879"/>
                  <a:pt x="354955" y="228451"/>
                </a:cubicBezTo>
                <a:cubicBezTo>
                  <a:pt x="343942" y="234702"/>
                  <a:pt x="325934" y="243632"/>
                  <a:pt x="310455" y="243632"/>
                </a:cubicBezTo>
                <a:cubicBezTo>
                  <a:pt x="294977" y="243632"/>
                  <a:pt x="282625" y="236488"/>
                  <a:pt x="273397" y="229195"/>
                </a:cubicBezTo>
                <a:cubicBezTo>
                  <a:pt x="268784" y="225475"/>
                  <a:pt x="264914" y="221754"/>
                  <a:pt x="261938" y="218926"/>
                </a:cubicBezTo>
                <a:cubicBezTo>
                  <a:pt x="259705" y="216843"/>
                  <a:pt x="259110" y="212080"/>
                  <a:pt x="255538" y="211634"/>
                </a:cubicBezTo>
                <a:cubicBezTo>
                  <a:pt x="253454" y="211485"/>
                  <a:pt x="252859" y="217140"/>
                  <a:pt x="258068" y="221307"/>
                </a:cubicBez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4318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LINUX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64000" y="3810000"/>
            <a:ext cx="1016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334000" y="2921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0A0F1C"/>
          </a:solidFill>
          <a:ln w="12700">
            <a:solidFill>
              <a:srgbClr val="F8D8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3625" y="3302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654546" y="298400"/>
                </a:moveTo>
                <a:cubicBezTo>
                  <a:pt x="643086" y="252413"/>
                  <a:pt x="621357" y="217736"/>
                  <a:pt x="575072" y="217736"/>
                </a:cubicBezTo>
                <a:lnTo>
                  <a:pt x="515392" y="217736"/>
                </a:lnTo>
                <a:lnTo>
                  <a:pt x="515392" y="288280"/>
                </a:lnTo>
                <a:cubicBezTo>
                  <a:pt x="515392" y="343049"/>
                  <a:pt x="468957" y="389186"/>
                  <a:pt x="415975" y="389186"/>
                </a:cubicBezTo>
                <a:lnTo>
                  <a:pt x="257026" y="389186"/>
                </a:lnTo>
                <a:cubicBezTo>
                  <a:pt x="213568" y="389186"/>
                  <a:pt x="177552" y="426393"/>
                  <a:pt x="177552" y="469999"/>
                </a:cubicBezTo>
                <a:lnTo>
                  <a:pt x="177552" y="621506"/>
                </a:lnTo>
                <a:cubicBezTo>
                  <a:pt x="177552" y="664666"/>
                  <a:pt x="215057" y="689967"/>
                  <a:pt x="257026" y="702320"/>
                </a:cubicBezTo>
                <a:cubicBezTo>
                  <a:pt x="307330" y="717054"/>
                  <a:pt x="355699" y="719733"/>
                  <a:pt x="415975" y="702320"/>
                </a:cubicBezTo>
                <a:cubicBezTo>
                  <a:pt x="456009" y="690711"/>
                  <a:pt x="495449" y="667345"/>
                  <a:pt x="495449" y="621506"/>
                </a:cubicBezTo>
                <a:lnTo>
                  <a:pt x="495449" y="560933"/>
                </a:lnTo>
                <a:lnTo>
                  <a:pt x="336649" y="560933"/>
                </a:lnTo>
                <a:lnTo>
                  <a:pt x="336649" y="540693"/>
                </a:lnTo>
                <a:lnTo>
                  <a:pt x="575072" y="540693"/>
                </a:lnTo>
                <a:cubicBezTo>
                  <a:pt x="621357" y="540693"/>
                  <a:pt x="638473" y="508397"/>
                  <a:pt x="654546" y="460028"/>
                </a:cubicBezTo>
                <a:cubicBezTo>
                  <a:pt x="671215" y="410170"/>
                  <a:pt x="670471" y="362248"/>
                  <a:pt x="654546" y="298400"/>
                </a:cubicBezTo>
                <a:close/>
                <a:moveTo>
                  <a:pt x="425946" y="661839"/>
                </a:moveTo>
                <a:cubicBezTo>
                  <a:pt x="414619" y="662633"/>
                  <a:pt x="403795" y="657041"/>
                  <a:pt x="397890" y="647342"/>
                </a:cubicBezTo>
                <a:cubicBezTo>
                  <a:pt x="391984" y="637644"/>
                  <a:pt x="391984" y="625461"/>
                  <a:pt x="397890" y="615762"/>
                </a:cubicBezTo>
                <a:cubicBezTo>
                  <a:pt x="403795" y="606064"/>
                  <a:pt x="414619" y="600471"/>
                  <a:pt x="425946" y="601266"/>
                </a:cubicBezTo>
                <a:cubicBezTo>
                  <a:pt x="437273" y="600471"/>
                  <a:pt x="448097" y="606064"/>
                  <a:pt x="454002" y="615762"/>
                </a:cubicBezTo>
                <a:cubicBezTo>
                  <a:pt x="459908" y="625461"/>
                  <a:pt x="459908" y="637644"/>
                  <a:pt x="454002" y="647342"/>
                </a:cubicBezTo>
                <a:cubicBezTo>
                  <a:pt x="448097" y="657041"/>
                  <a:pt x="437273" y="662633"/>
                  <a:pt x="425946" y="661839"/>
                </a:cubicBezTo>
                <a:close/>
                <a:moveTo>
                  <a:pt x="249734" y="369243"/>
                </a:moveTo>
                <a:lnTo>
                  <a:pt x="408682" y="369243"/>
                </a:lnTo>
                <a:cubicBezTo>
                  <a:pt x="452884" y="369243"/>
                  <a:pt x="488156" y="332780"/>
                  <a:pt x="488156" y="288429"/>
                </a:cubicBezTo>
                <a:lnTo>
                  <a:pt x="488156" y="136773"/>
                </a:lnTo>
                <a:cubicBezTo>
                  <a:pt x="488156" y="93613"/>
                  <a:pt x="451842" y="61317"/>
                  <a:pt x="408682" y="54025"/>
                </a:cubicBezTo>
                <a:cubicBezTo>
                  <a:pt x="355402" y="45244"/>
                  <a:pt x="297507" y="45690"/>
                  <a:pt x="249734" y="54173"/>
                </a:cubicBezTo>
                <a:cubicBezTo>
                  <a:pt x="182463" y="66080"/>
                  <a:pt x="170259" y="90934"/>
                  <a:pt x="170259" y="136922"/>
                </a:cubicBezTo>
                <a:lnTo>
                  <a:pt x="170259" y="197495"/>
                </a:lnTo>
                <a:lnTo>
                  <a:pt x="329357" y="197495"/>
                </a:lnTo>
                <a:lnTo>
                  <a:pt x="329357" y="217736"/>
                </a:lnTo>
                <a:lnTo>
                  <a:pt x="110579" y="217736"/>
                </a:lnTo>
                <a:cubicBezTo>
                  <a:pt x="64294" y="217736"/>
                  <a:pt x="23813" y="245566"/>
                  <a:pt x="11162" y="298400"/>
                </a:cubicBezTo>
                <a:cubicBezTo>
                  <a:pt x="-3423" y="358973"/>
                  <a:pt x="-4018" y="396776"/>
                  <a:pt x="11162" y="460028"/>
                </a:cubicBezTo>
                <a:cubicBezTo>
                  <a:pt x="22473" y="507057"/>
                  <a:pt x="49411" y="540693"/>
                  <a:pt x="95696" y="540693"/>
                </a:cubicBezTo>
                <a:lnTo>
                  <a:pt x="150316" y="540693"/>
                </a:lnTo>
                <a:lnTo>
                  <a:pt x="150316" y="468064"/>
                </a:lnTo>
                <a:cubicBezTo>
                  <a:pt x="150316" y="415528"/>
                  <a:pt x="195709" y="369243"/>
                  <a:pt x="249734" y="369243"/>
                </a:cubicBezTo>
                <a:close/>
                <a:moveTo>
                  <a:pt x="239911" y="96292"/>
                </a:moveTo>
                <a:cubicBezTo>
                  <a:pt x="256668" y="96292"/>
                  <a:pt x="270272" y="109896"/>
                  <a:pt x="270272" y="126653"/>
                </a:cubicBezTo>
                <a:cubicBezTo>
                  <a:pt x="270272" y="143409"/>
                  <a:pt x="256668" y="157014"/>
                  <a:pt x="239911" y="157014"/>
                </a:cubicBezTo>
                <a:cubicBezTo>
                  <a:pt x="223154" y="157014"/>
                  <a:pt x="209550" y="143409"/>
                  <a:pt x="209550" y="126653"/>
                </a:cubicBezTo>
                <a:cubicBezTo>
                  <a:pt x="209550" y="109896"/>
                  <a:pt x="223154" y="96292"/>
                  <a:pt x="239911" y="96292"/>
                </a:cubicBezTo>
                <a:close/>
              </a:path>
            </a:pathLst>
          </a:custGeom>
          <a:solidFill>
            <a:srgbClr val="F8D849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0" y="4318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PYTHON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74000" y="3810000"/>
            <a:ext cx="1016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9144000" y="2921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0A0F1C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53625" y="3302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238869" y="-39291"/>
                </a:moveTo>
                <a:cubicBezTo>
                  <a:pt x="252710" y="-50899"/>
                  <a:pt x="273100" y="-50453"/>
                  <a:pt x="286345" y="-37951"/>
                </a:cubicBezTo>
                <a:cubicBezTo>
                  <a:pt x="304651" y="-20687"/>
                  <a:pt x="321022" y="-1637"/>
                  <a:pt x="336798" y="17711"/>
                </a:cubicBezTo>
                <a:cubicBezTo>
                  <a:pt x="356890" y="42267"/>
                  <a:pt x="381000" y="74712"/>
                  <a:pt x="404217" y="113258"/>
                </a:cubicBezTo>
                <a:cubicBezTo>
                  <a:pt x="411956" y="103138"/>
                  <a:pt x="419100" y="94208"/>
                  <a:pt x="425351" y="86618"/>
                </a:cubicBezTo>
                <a:cubicBezTo>
                  <a:pt x="426988" y="84683"/>
                  <a:pt x="428625" y="82600"/>
                  <a:pt x="430262" y="80516"/>
                </a:cubicBezTo>
                <a:cubicBezTo>
                  <a:pt x="442020" y="65931"/>
                  <a:pt x="456605" y="47625"/>
                  <a:pt x="476101" y="47625"/>
                </a:cubicBezTo>
                <a:cubicBezTo>
                  <a:pt x="496044" y="47625"/>
                  <a:pt x="510034" y="65336"/>
                  <a:pt x="521940" y="80516"/>
                </a:cubicBezTo>
                <a:cubicBezTo>
                  <a:pt x="523875" y="83046"/>
                  <a:pt x="525810" y="85427"/>
                  <a:pt x="527745" y="87660"/>
                </a:cubicBezTo>
                <a:cubicBezTo>
                  <a:pt x="543074" y="106114"/>
                  <a:pt x="563463" y="132755"/>
                  <a:pt x="583853" y="165646"/>
                </a:cubicBezTo>
                <a:cubicBezTo>
                  <a:pt x="624334" y="230981"/>
                  <a:pt x="666601" y="323999"/>
                  <a:pt x="666601" y="428476"/>
                </a:cubicBezTo>
                <a:cubicBezTo>
                  <a:pt x="666601" y="612577"/>
                  <a:pt x="517327" y="761851"/>
                  <a:pt x="333226" y="761851"/>
                </a:cubicBezTo>
                <a:cubicBezTo>
                  <a:pt x="149126" y="761851"/>
                  <a:pt x="0" y="612725"/>
                  <a:pt x="0" y="428625"/>
                </a:cubicBezTo>
                <a:cubicBezTo>
                  <a:pt x="0" y="293043"/>
                  <a:pt x="61168" y="175617"/>
                  <a:pt x="119807" y="93762"/>
                </a:cubicBezTo>
                <a:cubicBezTo>
                  <a:pt x="149423" y="52536"/>
                  <a:pt x="178891" y="19496"/>
                  <a:pt x="201067" y="-3125"/>
                </a:cubicBezTo>
                <a:cubicBezTo>
                  <a:pt x="213271" y="-15627"/>
                  <a:pt x="225623" y="-27980"/>
                  <a:pt x="239018" y="-39142"/>
                </a:cubicBezTo>
                <a:close/>
                <a:moveTo>
                  <a:pt x="335905" y="619125"/>
                </a:moveTo>
                <a:cubicBezTo>
                  <a:pt x="373559" y="619125"/>
                  <a:pt x="406896" y="608707"/>
                  <a:pt x="438299" y="587871"/>
                </a:cubicBezTo>
                <a:cubicBezTo>
                  <a:pt x="500955" y="544116"/>
                  <a:pt x="517773" y="456605"/>
                  <a:pt x="480120" y="387846"/>
                </a:cubicBezTo>
                <a:cubicBezTo>
                  <a:pt x="473422" y="374452"/>
                  <a:pt x="456307" y="373559"/>
                  <a:pt x="446633" y="384870"/>
                </a:cubicBezTo>
                <a:lnTo>
                  <a:pt x="409129" y="428476"/>
                </a:lnTo>
                <a:cubicBezTo>
                  <a:pt x="399306" y="439787"/>
                  <a:pt x="381595" y="439489"/>
                  <a:pt x="372368" y="427732"/>
                </a:cubicBezTo>
                <a:cubicBezTo>
                  <a:pt x="346621" y="394841"/>
                  <a:pt x="299293" y="334863"/>
                  <a:pt x="275183" y="304205"/>
                </a:cubicBezTo>
                <a:cubicBezTo>
                  <a:pt x="267146" y="293936"/>
                  <a:pt x="252561" y="292298"/>
                  <a:pt x="243185" y="301377"/>
                </a:cubicBezTo>
                <a:cubicBezTo>
                  <a:pt x="215950" y="327868"/>
                  <a:pt x="166539" y="385911"/>
                  <a:pt x="166539" y="456605"/>
                </a:cubicBezTo>
                <a:cubicBezTo>
                  <a:pt x="166539" y="558701"/>
                  <a:pt x="241846" y="619125"/>
                  <a:pt x="335756" y="619125"/>
                </a:cubicBezTo>
                <a:close/>
              </a:path>
            </a:pathLst>
          </a:custGeom>
          <a:solidFill>
            <a:srgbClr val="FF4B4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4318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ST-APP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684000" y="3810000"/>
            <a:ext cx="1016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954000" y="292100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0A0F1C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0" y="3302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523726" y="416719"/>
                </a:moveTo>
                <a:lnTo>
                  <a:pt x="239613" y="416719"/>
                </a:lnTo>
                <a:cubicBezTo>
                  <a:pt x="243929" y="512713"/>
                  <a:pt x="265212" y="601117"/>
                  <a:pt x="295424" y="665857"/>
                </a:cubicBezTo>
                <a:cubicBezTo>
                  <a:pt x="312390" y="702320"/>
                  <a:pt x="330696" y="728067"/>
                  <a:pt x="347662" y="743843"/>
                </a:cubicBezTo>
                <a:cubicBezTo>
                  <a:pt x="364331" y="759470"/>
                  <a:pt x="375791" y="762000"/>
                  <a:pt x="381744" y="762000"/>
                </a:cubicBezTo>
                <a:cubicBezTo>
                  <a:pt x="387697" y="762000"/>
                  <a:pt x="399157" y="759470"/>
                  <a:pt x="415826" y="743843"/>
                </a:cubicBezTo>
                <a:cubicBezTo>
                  <a:pt x="432792" y="728067"/>
                  <a:pt x="451098" y="702171"/>
                  <a:pt x="468064" y="665857"/>
                </a:cubicBezTo>
                <a:cubicBezTo>
                  <a:pt x="498277" y="601117"/>
                  <a:pt x="519559" y="512713"/>
                  <a:pt x="523875" y="416719"/>
                </a:cubicBezTo>
                <a:close/>
                <a:moveTo>
                  <a:pt x="239464" y="345281"/>
                </a:moveTo>
                <a:lnTo>
                  <a:pt x="523577" y="345281"/>
                </a:lnTo>
                <a:cubicBezTo>
                  <a:pt x="519410" y="249287"/>
                  <a:pt x="498128" y="160883"/>
                  <a:pt x="467916" y="96143"/>
                </a:cubicBezTo>
                <a:cubicBezTo>
                  <a:pt x="450949" y="59829"/>
                  <a:pt x="432643" y="33933"/>
                  <a:pt x="415677" y="18157"/>
                </a:cubicBezTo>
                <a:cubicBezTo>
                  <a:pt x="399008" y="2530"/>
                  <a:pt x="387548" y="0"/>
                  <a:pt x="381595" y="0"/>
                </a:cubicBezTo>
                <a:cubicBezTo>
                  <a:pt x="375642" y="0"/>
                  <a:pt x="364182" y="2530"/>
                  <a:pt x="347514" y="18157"/>
                </a:cubicBezTo>
                <a:cubicBezTo>
                  <a:pt x="330547" y="33933"/>
                  <a:pt x="312241" y="59829"/>
                  <a:pt x="295275" y="96143"/>
                </a:cubicBezTo>
                <a:cubicBezTo>
                  <a:pt x="265063" y="160883"/>
                  <a:pt x="243780" y="249287"/>
                  <a:pt x="239464" y="345281"/>
                </a:cubicBezTo>
                <a:close/>
                <a:moveTo>
                  <a:pt x="168027" y="345281"/>
                </a:moveTo>
                <a:cubicBezTo>
                  <a:pt x="173236" y="217884"/>
                  <a:pt x="206127" y="99566"/>
                  <a:pt x="254198" y="21878"/>
                </a:cubicBezTo>
                <a:cubicBezTo>
                  <a:pt x="117128" y="70396"/>
                  <a:pt x="16222" y="195262"/>
                  <a:pt x="2232" y="345281"/>
                </a:cubicBezTo>
                <a:lnTo>
                  <a:pt x="168027" y="345281"/>
                </a:lnTo>
                <a:close/>
                <a:moveTo>
                  <a:pt x="2232" y="416719"/>
                </a:moveTo>
                <a:cubicBezTo>
                  <a:pt x="16222" y="566738"/>
                  <a:pt x="117128" y="691604"/>
                  <a:pt x="254198" y="740122"/>
                </a:cubicBezTo>
                <a:cubicBezTo>
                  <a:pt x="206127" y="662434"/>
                  <a:pt x="173236" y="544116"/>
                  <a:pt x="168027" y="416719"/>
                </a:cubicBezTo>
                <a:lnTo>
                  <a:pt x="2232" y="416719"/>
                </a:lnTo>
                <a:close/>
                <a:moveTo>
                  <a:pt x="595164" y="416719"/>
                </a:moveTo>
                <a:cubicBezTo>
                  <a:pt x="589955" y="544116"/>
                  <a:pt x="557064" y="662434"/>
                  <a:pt x="508992" y="740122"/>
                </a:cubicBezTo>
                <a:cubicBezTo>
                  <a:pt x="646063" y="691455"/>
                  <a:pt x="746968" y="566738"/>
                  <a:pt x="760958" y="416719"/>
                </a:cubicBezTo>
                <a:lnTo>
                  <a:pt x="595164" y="416719"/>
                </a:lnTo>
                <a:close/>
                <a:moveTo>
                  <a:pt x="760958" y="345281"/>
                </a:moveTo>
                <a:cubicBezTo>
                  <a:pt x="746968" y="195262"/>
                  <a:pt x="646063" y="70396"/>
                  <a:pt x="508992" y="21878"/>
                </a:cubicBezTo>
                <a:cubicBezTo>
                  <a:pt x="557064" y="99566"/>
                  <a:pt x="589955" y="217884"/>
                  <a:pt x="595164" y="345281"/>
                </a:cubicBezTo>
                <a:lnTo>
                  <a:pt x="760958" y="345281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0" y="4318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BIO-UI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32000" y="5588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Engineered for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Atomic Efficiency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via caching and client-side visualization libraries.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GLOBAL EPIDEMIOLOGY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Allele Frequency Distribution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838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270000" y="2286000"/>
          <a:ext cx="7366000" cy="482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9652000" y="1778000"/>
            <a:ext cx="584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60000" y="21590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Founder Mutations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160000" y="2921000"/>
            <a:ext cx="482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Variants like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185delAG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show significantly higher prevalence in Ashkenazi Jewish populations, illustrating the importance of ethnic-specific risk assessment.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160000" y="5588000"/>
            <a:ext cx="4826000" cy="508000"/>
          </a:xfrm>
          <a:prstGeom prst="roundRect">
            <a:avLst>
              <a:gd name="adj" fmla="val 8000"/>
            </a:avLst>
          </a:prstGeom>
          <a:solidFill>
            <a:srgbClr val="38BDF8">
              <a:alpha val="3137"/>
            </a:srgbClr>
          </a:solidFill>
          <a:ln w="12700">
            <a:solidFill>
              <a:srgbClr val="38BDF8">
                <a:alpha val="12549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14000" y="5664200"/>
            <a:ext cx="431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Source: ClinVar + Ensemble Variant Databases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PROJECT IMPACT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812800"/>
            <a:ext cx="889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About the Developer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56000" y="2794000"/>
            <a:ext cx="1524000" cy="2032000"/>
          </a:xfrm>
          <a:custGeom>
            <a:avLst/>
            <a:gdLst/>
            <a:ahLst/>
            <a:cxnLst/>
            <a:rect l="l" t="t" r="r" b="b"/>
            <a:pathLst>
              <a:path w="1524000" h="2032000">
                <a:moveTo>
                  <a:pt x="1397000" y="0"/>
                </a:moveTo>
                <a:cubicBezTo>
                  <a:pt x="1467247" y="0"/>
                  <a:pt x="1524000" y="56753"/>
                  <a:pt x="1524000" y="127000"/>
                </a:cubicBezTo>
                <a:cubicBezTo>
                  <a:pt x="1524000" y="356394"/>
                  <a:pt x="1427163" y="542925"/>
                  <a:pt x="1296194" y="700484"/>
                </a:cubicBezTo>
                <a:cubicBezTo>
                  <a:pt x="1200547" y="815181"/>
                  <a:pt x="1082675" y="919163"/>
                  <a:pt x="964406" y="1016000"/>
                </a:cubicBezTo>
                <a:cubicBezTo>
                  <a:pt x="1082675" y="1113234"/>
                  <a:pt x="1200547" y="1216819"/>
                  <a:pt x="1296194" y="1331516"/>
                </a:cubicBezTo>
                <a:cubicBezTo>
                  <a:pt x="1427163" y="1488678"/>
                  <a:pt x="1524000" y="1675606"/>
                  <a:pt x="1524000" y="1905000"/>
                </a:cubicBezTo>
                <a:cubicBezTo>
                  <a:pt x="1524000" y="1975247"/>
                  <a:pt x="1467247" y="2032000"/>
                  <a:pt x="1397000" y="2032000"/>
                </a:cubicBezTo>
                <a:cubicBezTo>
                  <a:pt x="1326753" y="2032000"/>
                  <a:pt x="1270000" y="1975247"/>
                  <a:pt x="1270000" y="1905000"/>
                </a:cubicBezTo>
                <a:lnTo>
                  <a:pt x="254000" y="1905000"/>
                </a:lnTo>
                <a:cubicBezTo>
                  <a:pt x="254000" y="1975247"/>
                  <a:pt x="197247" y="2032000"/>
                  <a:pt x="127000" y="2032000"/>
                </a:cubicBezTo>
                <a:cubicBezTo>
                  <a:pt x="56753" y="2032000"/>
                  <a:pt x="0" y="1975247"/>
                  <a:pt x="0" y="1905000"/>
                </a:cubicBezTo>
                <a:cubicBezTo>
                  <a:pt x="0" y="1675606"/>
                  <a:pt x="96837" y="1489075"/>
                  <a:pt x="227806" y="1331516"/>
                </a:cubicBezTo>
                <a:cubicBezTo>
                  <a:pt x="323453" y="1216819"/>
                  <a:pt x="441325" y="1113234"/>
                  <a:pt x="559594" y="1016000"/>
                </a:cubicBezTo>
                <a:cubicBezTo>
                  <a:pt x="441325" y="918766"/>
                  <a:pt x="323453" y="815181"/>
                  <a:pt x="227806" y="700484"/>
                </a:cubicBezTo>
                <a:cubicBezTo>
                  <a:pt x="96837" y="542925"/>
                  <a:pt x="0" y="356394"/>
                  <a:pt x="0" y="127000"/>
                </a:cubicBezTo>
                <a:cubicBezTo>
                  <a:pt x="0" y="56753"/>
                  <a:pt x="56753" y="0"/>
                  <a:pt x="127000" y="0"/>
                </a:cubicBezTo>
                <a:cubicBezTo>
                  <a:pt x="197247" y="0"/>
                  <a:pt x="254000" y="56753"/>
                  <a:pt x="254000" y="127000"/>
                </a:cubicBezTo>
                <a:lnTo>
                  <a:pt x="1270000" y="127000"/>
                </a:lnTo>
                <a:cubicBezTo>
                  <a:pt x="1270000" y="56753"/>
                  <a:pt x="1326753" y="0"/>
                  <a:pt x="1397000" y="0"/>
                </a:cubicBezTo>
                <a:close/>
                <a:moveTo>
                  <a:pt x="1125141" y="1524000"/>
                </a:moveTo>
                <a:lnTo>
                  <a:pt x="399256" y="1524000"/>
                </a:lnTo>
                <a:cubicBezTo>
                  <a:pt x="366712" y="1565672"/>
                  <a:pt x="339328" y="1607741"/>
                  <a:pt x="317500" y="1651000"/>
                </a:cubicBezTo>
                <a:lnTo>
                  <a:pt x="1207294" y="1651000"/>
                </a:lnTo>
                <a:cubicBezTo>
                  <a:pt x="1185069" y="1607741"/>
                  <a:pt x="1157684" y="1565672"/>
                  <a:pt x="1125538" y="1524000"/>
                </a:cubicBezTo>
                <a:close/>
                <a:moveTo>
                  <a:pt x="944563" y="1333500"/>
                </a:moveTo>
                <a:cubicBezTo>
                  <a:pt x="887809" y="1281906"/>
                  <a:pt x="826294" y="1231106"/>
                  <a:pt x="762000" y="1178719"/>
                </a:cubicBezTo>
                <a:cubicBezTo>
                  <a:pt x="697706" y="1230709"/>
                  <a:pt x="636191" y="1281906"/>
                  <a:pt x="579438" y="1333500"/>
                </a:cubicBezTo>
                <a:lnTo>
                  <a:pt x="944563" y="1333500"/>
                </a:lnTo>
                <a:close/>
                <a:moveTo>
                  <a:pt x="398859" y="508000"/>
                </a:moveTo>
                <a:lnTo>
                  <a:pt x="1124744" y="508000"/>
                </a:lnTo>
                <a:cubicBezTo>
                  <a:pt x="1157288" y="466328"/>
                  <a:pt x="1184672" y="424259"/>
                  <a:pt x="1206500" y="381000"/>
                </a:cubicBezTo>
                <a:lnTo>
                  <a:pt x="317103" y="381000"/>
                </a:lnTo>
                <a:cubicBezTo>
                  <a:pt x="339328" y="424259"/>
                  <a:pt x="366713" y="466328"/>
                  <a:pt x="398859" y="508000"/>
                </a:cubicBezTo>
                <a:close/>
                <a:moveTo>
                  <a:pt x="579438" y="698500"/>
                </a:moveTo>
                <a:cubicBezTo>
                  <a:pt x="636191" y="750094"/>
                  <a:pt x="697706" y="800894"/>
                  <a:pt x="762000" y="853281"/>
                </a:cubicBezTo>
                <a:cubicBezTo>
                  <a:pt x="826294" y="801291"/>
                  <a:pt x="887809" y="750094"/>
                  <a:pt x="944563" y="698500"/>
                </a:cubicBezTo>
                <a:lnTo>
                  <a:pt x="579438" y="698500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5334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Curiosity Driven Build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382000" y="1778000"/>
            <a:ext cx="7112000" cy="584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8BDF8">
                <a:alpha val="14902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0000" y="2286000"/>
            <a:ext cx="609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Built by a student aiming to understand how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Bio-Computational Tools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change our approach to hereditary cancer.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2000"/>
              </a:spcBef>
            </a:pPr>
            <a:r>
              <a:rPr lang="en-US" sz="20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Focus on bridging biology and software engineering.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90000" y="6096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GITHUB: NAN0ADEL775-CELL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m7tk4qkc6pqds/mnt/agents/output/brca1-presentation/images/cover_bg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70A12">
                  <a:alpha val="0"/>
                </a:srgbClr>
              </a:gs>
              <a:gs pos="30000">
                <a:srgbClr val="070A12">
                  <a:alpha val="63000"/>
                </a:srgbClr>
              </a:gs>
              <a:gs pos="100000">
                <a:srgbClr val="070A12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540000"/>
            <a:ext cx="1270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 algn="ctr">
              <a:lnSpc>
                <a:spcPct val="100000"/>
              </a:lnSpc>
            </a:pPr>
            <a:r>
              <a:rPr lang="en-US" sz="800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END</a:t>
            </a:r>
            <a:pPr algn="ctr">
              <a:lnSpc>
                <a:spcPct val="100000"/>
              </a:lnSpc>
            </a:pPr>
            <a:r>
              <a:rPr lang="en-US" sz="8000" dirty="0">
                <a:solidFill>
                  <a:srgbClr val="F8FAF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3048000" y="457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Precision Medicine is the Future of Oncology.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350000" y="5588000"/>
            <a:ext cx="3556000" cy="558800"/>
          </a:xfrm>
          <a:prstGeom prst="roundRect">
            <a:avLst>
              <a:gd name="adj" fmla="val 5000"/>
            </a:avLst>
          </a:prstGeom>
          <a:solidFill>
            <a:srgbClr val="38BDF8">
              <a:alpha val="8235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0000" y="5588000"/>
            <a:ext cx="355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38BDF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Access Granted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0" y="8382000"/>
            <a:ext cx="2540000" cy="25400"/>
          </a:xfrm>
          <a:prstGeom prst="rect">
            <a:avLst/>
          </a:prstGeom>
          <a:gradFill rotWithShape="1" flip="none">
            <a:gsLst>
              <a:gs pos="0">
                <a:srgbClr val="38BDF8">
                  <a:alpha val="0"/>
                </a:srgbClr>
              </a:gs>
              <a:gs pos="50000">
                <a:srgbClr val="38BDF8"/>
              </a:gs>
              <a:gs pos="100000">
                <a:srgbClr val="38BDF8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BRCA1: Guardian of the Genome</dc:title>
  <dc:subject>BRCA1: Guardian of the Genome</dc:subject>
  <dc:creator>Kimi</dc:creator>
  <cp:lastModifiedBy>Kimi</cp:lastModifiedBy>
  <cp:revision>1</cp:revision>
  <dcterms:created xsi:type="dcterms:W3CDTF">2026-04-30T10:15:57Z</dcterms:created>
  <dcterms:modified xsi:type="dcterms:W3CDTF">2026-04-30T10:15:57Z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{"Label":"BRCA1: Guardian of the Genome","ContentProducer":"001191110108MACG2KBH8F10000","ProduceID":"19ddde25-2022-8e62-8000-0000b44b0b70","ReservedCode1":"","ContentPropagator":"001191110108MACG2KBH8F20000","PropagateID":"19ddde25-2022-8e62-8000-0000b44b0b70","ReservedCode2":""}</vt:lpwstr>
  </property>
</Properties>
</file>